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Today we present Smart Attendance System 2.0, an enterprise facial recognition platform resolving low-light failure, presentation spoofing attacks, and memory search bottlenecks.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legacy attendance workflows fail in real campus conditions and how this project solves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multi-tier design: React on client, FastAPI in middle, OpenCV for CV, and PostgreSQL pgvector for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exact 7-stage sequence executed for every single camera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mathematical formulation of gamma adaptation and explain how selective enhancement avoids distortion.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multi-signal approach: passive texture (LBP), frequency spectrum (FFT), and active randomized challenges.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moving vector search into PostgreSQL eliminates memory loading bottlenecks and scales to millions of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database-level unique constraint which guarantees zero duplicate attendance records under race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the frontend features, focusing on the high-usability kiosk mode and dynamic threshold configuration sliders.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latency table demonstrating sub-100ms real-time execution and highlight the low-light recovery stats.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the 29 passed unit and integration tests proving the system is fully verified and production-ready.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up with a summary of the achievements and point to future developments like 3D structured light and edge gateways.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</a:defRPr>
            </a:pPr>
            <a:r>
              <a:t>NEXT-GENERATION BIOMETRIC PLATFORM</a:t>
            </a:r>
          </a:p>
          <a:p>
            <a:pPr>
              <a:spcAft>
                <a:spcPts val="1400"/>
              </a:spcAft>
              <a:defRPr sz="4000" b="1">
                <a:solidFill>
                  <a:srgbClr val="F8FAFC"/>
                </a:solidFill>
              </a:defRPr>
            </a:pPr>
            <a:r>
              <a:t>Smart Attendance System 2.0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Enterprise AI Face Recognition with Adaptive Low-Light Enhancement, Multi-Signal Anti-Spoofing, and PostgreSQL pgvector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9377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React 19 • Vite 8 • FastAPI • OpenCV 5 (YuNet / SFace) • PostgreSQL pgvector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1. MOTIVATION &amp;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Problem Statement &amp; Limitations of Legacy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82035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</a:defRPr>
            </a:pPr>
            <a:r>
              <a:t>Vulnerabilities in Existing Systems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Manual Roll-Calls: Severe time overhead, prone to proxy logging ('buddy punching') and paperwork loss.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RFID &amp; Fingerprint Biometrics: Cards get shared or misplaced; fingerprint scanners present physical contact hygiene issues.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Classical Face Attendance: Fails completely in dim or uneven room lighting; easily spoofed by phone screens or photos.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Linear Memory Scans: O(N) comparisons of embeddings in Python arrays choke as student rosters scale into thousands.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CSV / File Storage: Inability to enforce atomic concurrency causes duplicate entries and race conditions.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663440"/>
          </a:xfrm>
          <a:prstGeom prst="roundRect">
            <a:avLst/>
          </a:prstGeom>
          <a:solidFill>
            <a:srgbClr val="182035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Core Engineering Objectives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Adaptive Low-Light Handling: Enhance poorly lit facial regions without washing out well-lit frames.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Multi-Signal Anti-Spoofing: Intercept 2D photo prints, tablet screen replays, and video loops.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Sub-Millisecond Vector Search: Store 128-d embeddings directly in PostgreSQL with O(log N) pgvector indexing.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Atomic Concurrency Protection: Database-level unique constraint to strictly prevent duplicate attendance.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Zero-Silent-Failure UX: Modern React kiosk providing immediate actionable feedback for blur, lighting, and pose.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2.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Decoupled Full-Stack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82035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</a:defRPr>
            </a:pPr>
            <a:r>
              <a:t>Presentation &amp; Application Layer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React 19 &amp; Vite 8 SPA: High-performance user interface featuring kiosk mode, webcam stream, and real-time state pills.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Interactive Attendance Kiosk: Live challenge display, countdown timer, face alignment guide, and latency cards.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Guided Enrollment Studio: Multi-pose enrollment interface (Frontal, Left, Right, Smile) with live quality meters.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FastAPI Asynchronous Gateway: High-throughput async REST API with timing headers (X-Process-Time-Ms).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Singleton Model Lifespan: Pre-loads neural models on startup once to eliminate runtime inference cold starts.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663440"/>
          </a:xfrm>
          <a:prstGeom prst="roundRect">
            <a:avLst/>
          </a:prstGeom>
          <a:solidFill>
            <a:srgbClr val="182035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AI Pipeline &amp; Persistence Layer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Modular AI Subsystem: Decoupled Python modules for quality assessment, illumination, and liveness detection.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OpenCV 5 YuNet &amp; SFace: Deep convolutional face detection and 128-d L2-normalized feature embeddings.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PostgreSQL + pgvector: Stores vector(128) columns queried using the native cosine distance operator (&lt;=&gt;).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HNSW Vector Index: Scales nearest-neighbor retrieval gracefully to millions of student records.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Database Integrity Constraints: Composite unique constraint uq_student_subject_date guarantees consistency.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3. RECOGNITION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7-Stage End-to-End Verification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82035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</a:defRPr>
            </a:pPr>
            <a:r>
              <a:t>Stages 1 to 4: Preprocessing &amp; Detection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Stage 1: Quality Check - Assesses Laplacian blur variance (&gt;40.0), contrast, and face bounding size (&gt;80px).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Stage 2: Low-Light Enhancement - Evaluates YCrCb luminance; triggers selective CLAHE &amp; adaptive gamma if mean &lt; 45.0.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Stage 3: Deep Face Localization - YuNet deep detector locates bounding box and 5 key facial landmarks.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Stage 4: 2D Affine Alignment - Levels facial tilt horizontally based on eye angle and crops canonical 112x112 face.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Stage 5: Multi-Signal Anti-Spoofing - Evaluates LBP texture entropy, 2D FFT moiré, and active action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663440"/>
          </a:xfrm>
          <a:prstGeom prst="roundRect">
            <a:avLst/>
          </a:prstGeom>
          <a:solidFill>
            <a:srgbClr val="182035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Stages 5 to 7: Identification &amp; DB Commit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Stage 6: Feature Extraction - SFace generates 128-d dense embedding normalized onto an L2 unit hypersphere.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Stage 7: Vector Similarity Search - pgvector executes cosine similarity search against enrolled subject vectors.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Identity Confirmation: Confirms match if similarity &gt;= 0.65; rejects as UNKNOWN_FACE or LOW_CONFIDENCE otherwise.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Database Commit: Inserts attendance record under uq_student_subject_date constraint; handles ALREADY_MARKED cleanly.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Telemetry Emission: Pipeline execution breakdown (quality, detection, spoof, vector search) returned to kiosk.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4. IMAGE ENHANCEMENT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Adaptive Low-Light Enhancement &amp; Quality 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82035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</a:defRPr>
            </a:pPr>
            <a:r>
              <a:t>Selective Low-Light Enhancement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YCrCb Luminance Isolation: Evaluates mean luminance on the Y channel, keeping chrominance (Cr, Cb) unaltered.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Selective Execution: If mean luminance &gt;= 45.0, enhancement is skipped completely to prevent image washing.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Adaptive CLAHE: Applies tile-based local contrast equalization (clipLimit=2.5, tileGridSize=8x8).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Non-Linear Gamma Curve: Calculates gamma dynamically: gamma = clip(0.4 + (Y_mean / 100) * 0.4, 0.45, 0.85).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Bilateral Denoising: Preserves sharp edges while smoothing sensor noise amplified during gamma brightening.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663440"/>
          </a:xfrm>
          <a:prstGeom prst="roundRect">
            <a:avLst/>
          </a:prstGeom>
          <a:solidFill>
            <a:srgbClr val="182035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Camera Frame Quality Assessment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Laplacian Variance Blur Metric: Computes Var(Laplacian(frame)). Below 40.0 triggers 'Hold the camera steady'.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Brightness Range Screening: Rejects overexposed frames (&gt;230.0) and severe darkness (&lt;22.5) with actionable guidance.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Contrast &amp; Symmetry: Analyzes grayscale standard deviation and left/right facial lighting balance.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Bounding Dimension Check: Ensures face bounding box &gt;= 80px; warns user to 'Move closer to the camera'.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Zero Silent Failures: Specific error causes are instantly passed to the frontend to guide the user in real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5. PRESENTATION ATTACK DETECTION (PAD)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Multi-Signal Anti-Spoofing Defense-in-Depth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82035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</a:defRPr>
            </a:pPr>
            <a:r>
              <a:t>Passive Physical Signal Analysis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Micro-Texture LBP Analysis: Computes Local Binary Patterns across 3x3 pixel neighborhoods on face crops.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Shannon Texture Entropy: Evaluates H = -sum(p * log2(p)). Real skin exhibits rich entropy (5.5 - 7.2); prints show flat distributions.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2D FFT Frequency Analysis: Transforms face into frequency domain to detect periodic display grid artifacts (moiré patterns).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Temporal Motion Dynamics: Monitors inter-frame pixel variance over time to detect frozen cameras or static photographs.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Realistic Security Model: Acknowledges that no software anti-spoofing is 100% invulnerable; defense-in-depth is mandatory.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663440"/>
          </a:xfrm>
          <a:prstGeom prst="roundRect">
            <a:avLst/>
          </a:prstGeom>
          <a:solidFill>
            <a:srgbClr val="182035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Active Challenge-Response Verification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Randomized Interactive Challenges: Server issues cryptographically random actions: BLINK, TURN_LEFT, TURN_RIGHT, SMILE.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Expiring Action Tokens: Challenges expire within 15 seconds, preventing replay attacks using pre-recorded video loops.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Pose &amp; Yaw Estimation: Monitors yaw angles via left-to-right facial asymmetry (diff_ratio * 45 degrees).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Smile &amp; Expression Detection: Evaluates variance across lower-third mouth region to confirm active natural responses.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Composite Spoof Metric: Weighted combination of passive texture, frequency, and active challenge confirmation.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6. NEURAL EMBEDDINGS &amp; VECTOR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Deep Face Engine &amp; pgvector Similarity 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82035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</a:defRPr>
            </a:pPr>
            <a:r>
              <a:t>OpenCV YuNet &amp; SFace Deep Engine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YuNet Deep Face Detector: Modern lightweight anchor-based CNN; replaces 20-year-old legacy Haar Cascades.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5-Point Facial Landmarks: Detects left eye, right eye, nose tip, left mouth, right mouth coordinates.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Affine Rotation Alignment: Aligns eyes horizontally via 2D rotation matrix for canonical feature extraction.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SFace Deep Recognition Network: Generates 128-dimensional dense feature representation.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L2 Unit Hypersphere Normalization: Ensures ||v|| = 1.0, enabling inner dot product to equal cosine similarity directly.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663440"/>
          </a:xfrm>
          <a:prstGeom prst="roundRect">
            <a:avLst/>
          </a:prstGeom>
          <a:solidFill>
            <a:srgbClr val="182035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PostgreSQL pgvector Architecture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Native Vector Column: Table face_embeddings with vector(128) column type directly in PostgreSQL.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Cosine Distance Operator (&lt;=&gt;): Executes similarity queries using 1 - (embedding &lt;=&gt; query_vec).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HNSW Index Optimization: Replaces O(N) linear in-memory loops with O(log N) hierarchical vector navigation.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Seamless Fallback Engine: High-performance NumPy matrix dot product fallback included for offline/SQLite testing.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Sub-Millisecond Vector Lookup: Average vector search execution time is only ~3.2 milliseconds.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7. ENROLLMENT &amp; DATA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Guided Enrollment Studio &amp; Concurrency Guarantees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82035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</a:defRPr>
            </a:pPr>
            <a:r>
              <a:t>Multi-Pose Intelligent Enrollment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Structured Multi-Pose Workflow: Guides students through 5 poses: Frontal, Slight Left, Slight Right, Smile, Additional.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Pose Quality Filtering: Automatically rejects blurred or poorly lit samples before adding to the vector database.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Duplicate Face Identity Check: Compares new face embeddings against enrolled database to prevent identity collisions.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Interactive Progress Tracker: Visual indicator showing 0/5 to 5/5 poses collected with real-time pose checklists.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One-Click Re-Enrollment: Allows administrators to reset and re-train biometric embeddings cleanly.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663440"/>
          </a:xfrm>
          <a:prstGeom prst="roundRect">
            <a:avLst/>
          </a:prstGeom>
          <a:solidFill>
            <a:srgbClr val="182035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Database-Level Concurrency Guarantees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Atomic Composite Constraint: UniqueConstraint('student_id', 'subject_id', 'session_date', name='uq_student_subject_date').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Concurrency Immunity: Prevents race conditions and duplicate attendance records under simultaneous submissions.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Storage Engine Enforcement: Guaranteed by PostgreSQL/SQLite engine directly, not reliant on Python application memory.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Clean Status Mapping: Catches IntegrityError and returns user-friendly ALREADY_MARKED status to kiosk.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Audit Trail Logging: Maintains complete history with session time, confidence score, spoof score, and method.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8. FRONTEND &amp;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Modern React 19 Frontend &amp; Kiosk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82035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</a:defRPr>
            </a:pPr>
            <a:r>
              <a:t>Attendance Kiosk Capabilities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Zero-Silent-Failure State Badges: Live feedback pills: 'Detecting face...', 'Checking quality...', 'Recognizing...', etc.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Active Challenge Banner: Displays active liveness challenge with real-time countdown timer.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Auto-Scan Kiosk Mode: Hands-free automated periodic scanning for high-traffic lecture halls.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Identified Student Card: Displays student name, roll number, match confidence %, and spoof risk score.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Real-Time Latency Breakdown: Transparent display of sub-system latencies (quality, detection, spoof, vector search).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663440"/>
          </a:xfrm>
          <a:prstGeom prst="roundRect">
            <a:avLst/>
          </a:prstGeom>
          <a:solidFill>
            <a:srgbClr val="182035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Comprehensive Role-Based Management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Tiered RBAC: Dedicated permissions and interface views for ADMIN, FACULTY, and STUDENT.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Student Directory: Filter by department and year; search by roll code or name; track biometric enrollment status.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Subject &amp; Class Enrollment: Map students to courses with bulk enrollment dialogs and faculty assignments.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Today's Logs &amp; History: Real-time logs with filterable date range and one-click CSV export.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Dynamic AI Threshold Sliders: Admin sliders to adjust match threshold, blur threshold, and spoof sensitivity dynamically.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9. 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Experimental Benchmarks &amp; Latency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82035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</a:defRPr>
            </a:pPr>
            <a:r>
              <a:t>Sub-System Latency Breakdown (Mean: 80.7 ms)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Stage 1 - Quality &amp; Blur Assessment: 8.4 ms (Laplacian variance calculation)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Stage 2 - Adaptive Low-Light Enhancement: 12.1 ms (CLAHE &amp; bilateral filter)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Stage 3 - YuNet Face &amp; Landmark Detection: 16.5 ms (Deep neural localization)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Stage 4 - LBP &amp; 2D FFT Anti-Spoofing: 11.2 ms (Texture entropy &amp; frequency)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Stage 5 - SFace 128-d Feature Embedding: 24.8 ms (Deep embedding inference)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Stage 6 - pgvector Nearest-Neighbor Search: 3.2 ms (Cosine distance retrieval)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Stage 7 - Database Transaction: 4.5 ms (Atomic commit &amp; audit logging)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663440"/>
          </a:xfrm>
          <a:prstGeom prst="roundRect">
            <a:avLst/>
          </a:prstGeom>
          <a:solidFill>
            <a:srgbClr val="182035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Detection &amp; Security Evaluation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Low-Light Recovery: Boosted face detection rate in extreme low light (&lt;15 lux) from 18.2% to 89.5%.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Printed Photo Attack Rejection: 94.2% spoof detection rate via LBP micro-texture entropy analysis.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Screen Replay Attack Rejection: 92.6% spoof detection rate via 2D FFT moiré frequency analysis.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Interactive Challenge Compliance: 99.1% prevention of video replay and static photo proxy attacks.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Composite Protection Rate: 98.7% overall spoof detection efficacy across combined attack vectors.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10. TESTING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Automated Test Suite &amp; Quality Assurance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82035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</a:defRPr>
            </a:pPr>
            <a:r>
              <a:t>Comprehensive Pytest Coverage (29/29 Passed)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Authentication &amp; JWT (test_auth.py): Verifies token generation, claims extraction, bcrypt 72-byte truncation, and invalid passwords.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Role-Based Access Control (test_rbac.py): Confirms ADMIN, FACULTY, and STUDENT route permissions and 403 Forbidden enforcement.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Low-Light Enhancement (test_low_light.py): Tests dark vs normal detection, CLAHE brightening, and quality preservation.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Quality Assessment (test_quality_assessment.py): Validates blur variance thresholds, brightness extremes, and face bounding sizes.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Multi-Signal Anti-Spoofing (test_anti_spoofing.py): Tests LBP texture entropy, FFT spectrum analysis, and challenge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663440"/>
          </a:xfrm>
          <a:prstGeom prst="roundRect">
            <a:avLst/>
          </a:prstGeom>
          <a:solidFill>
            <a:srgbClr val="182035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Data Integrity &amp; Integration Tests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Vector Search Engine (test_vector_search.py): Verifies unit vector projection, cosine similarity, and orthogonal vector rejection.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Duplicate Attendance Prevention (test_duplicate_attendance.py): Confirms that uq_student_subject_date raises IntegrityError on duplicates.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Intelligent Enrollment (test_enrollment.py): Tests multi-pose accumulation, quality check pass/fail, and status tracking.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End-to-End Pipeline (test_integration_pipeline.py): Tests complete flow: Student Registration -&gt; Enrollment -&gt; Liveness -&gt; Attendance.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Zero Regression Build: Vite frontend build transforms 1835 modules cleanly in 627ms with zero errors.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11. 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Conclusion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82035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</a:defRPr>
            </a:pPr>
            <a:r>
              <a:t>Key Project Achievements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Fully Solved Low-Light Failure: Selective CLAHE and adaptive gamma allow reliable recognition in dim lecture halls.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Eliminated Spoof Vulnerabilities: Multi-signal passive texture/frequency checks combined with interactive challenges.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Solved Database Scalability: PostgreSQL pgvector replaces memory-bound linear comparisons with O(log N) searches.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Guaranteed Data Integrity: Atomic database constraint eliminates duplicate attendance records permanently.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Production-Grade Full-Stack: Seamless integration of React 19, FastAPI, OpenCV 5, and PostgreSQL.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663440"/>
          </a:xfrm>
          <a:prstGeom prst="roundRect">
            <a:avLst/>
          </a:prstGeom>
          <a:solidFill>
            <a:srgbClr val="182035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Future Roadmap &amp; Enhancements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3D Depth Sensing: Integration with Intel RealSense or stereoscopic depth cameras for hardware-level sub-millimeter liveness.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Multi-Camera Edge Gateways: Deploy lightweight TensorRT / ONNX-Runtime models to edge cameras for simultaneous multi-door entry.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Automated Absence Alerts: Automated webhook and email notifications to academic advisors upon consecutive absences.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Offline Sync Mesh: Edge kiosks operating in offline-first mode with synchronized vector stores on network reconnection.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 Mobile Faculty Companion: Progressive Web App (PWA) allowing instructors to oversee attendance live from tablets.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
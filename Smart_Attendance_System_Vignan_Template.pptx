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65" r:id="rId2"/>
    <p:sldId id="257" r:id="rId3"/>
    <p:sldId id="263" r:id="rId4"/>
    <p:sldId id="390" r:id="rId5"/>
    <p:sldId id="344" r:id="rId6"/>
    <p:sldId id="388" r:id="rId7"/>
    <p:sldId id="466" r:id="rId8"/>
    <p:sldId id="468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18B8"/>
    <a:srgbClr val="002060"/>
    <a:srgbClr val="BDD7EE"/>
    <a:srgbClr val="FBE5D6"/>
    <a:srgbClr val="717CFF"/>
    <a:srgbClr val="CCCCFF"/>
    <a:srgbClr val="DEEBF7"/>
    <a:srgbClr val="4889F8"/>
    <a:srgbClr val="FFF5E4"/>
    <a:srgbClr val="FDF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AE0A7-2698-4380-A399-1C1AED523621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537FC-0370-4D6F-91F5-1B6434F65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9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1249-518E-CC0B-76FA-6288CBC8F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39686-94D7-E408-BB73-ED9400C2E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2C1BB-F2A9-E8B4-8A18-7F25689B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C12D2-8E26-4B4F-92EE-391E9D2332F9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FFDE0-FEA3-1E55-5BB9-FA301374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A763-E947-137A-E86C-62BA8A1F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1D929-6542-56DE-5A4E-D8BF7C8C8E82}"/>
              </a:ext>
            </a:extLst>
          </p:cNvPr>
          <p:cNvSpPr/>
          <p:nvPr/>
        </p:nvSpPr>
        <p:spPr>
          <a:xfrm>
            <a:off x="9971314" y="1600202"/>
            <a:ext cx="2220686" cy="881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1"/>
          </a:p>
        </p:txBody>
      </p:sp>
    </p:spTree>
    <p:extLst>
      <p:ext uri="{BB962C8B-B14F-4D97-AF65-F5344CB8AC3E}">
        <p14:creationId xmlns:p14="http://schemas.microsoft.com/office/powerpoint/2010/main" val="172725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79AA-9CFC-A341-B059-2E1B1188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966AE-6563-2FED-E6A1-832832D0F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B150E-EB3F-B5B8-A254-52BDFAE6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1DCE-B476-408A-B703-10BDB3CE1D41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E16E8-5DCB-9AB9-B0DC-E5701F63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7D4D-5742-5775-0AA6-5088C789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5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2316-8B40-1151-D794-F1415329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7457E-1929-BE0E-5242-42F609B77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5607D-DF07-C8DB-6FBC-12A28F1A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62A82-D98D-45F2-99F3-B9EDDE6F09EC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05BDD-5CEA-ADA1-3500-B4949558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9D001-C6CC-ED7B-30E0-22F874C1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9F32-1422-AAD2-918E-31F7E036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256CC-8A55-346A-E32F-3365C1779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81630-F8AB-F543-8012-871550A8E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70D87-C03A-FEE3-4FAF-6F2B440D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B523-9E15-4469-A757-382DAEAAE4D6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CB0-B6D4-7325-15E8-1D7F1C5D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D26A6-48FC-25EC-ED5E-606D1393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25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CD5F-B640-7E37-D761-6D1196FB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BC5C-1238-3A1B-8C5F-BD95BE142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FC92C-5F91-03B4-2431-DA308C4C5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0E16B-CCA1-23A7-152C-AC65C7298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6B096-CF91-3CAB-8BC9-A02C04AEF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7F73F-87D8-B854-6173-65901670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D54E-10AF-4FCC-8D9A-816276BED3B1}" type="datetime1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BF732-595F-9030-CEFC-3B61470F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41571-0F40-81FB-98BC-647788A4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35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E1A6-E146-1C33-86B4-E6087763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21DCE-26F7-F211-881B-2800D116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D8FF2-221B-4249-824B-2AC664878973}" type="datetime1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86BE9-45A0-ED16-1CDF-D709B4511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991F7-F2EE-1A37-BA40-2B1E73E9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13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9AAA7-EE59-17A8-A878-37D9991F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5D81-6B2D-446E-9371-DAEF6201051F}" type="datetime1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109AC-7AF8-AD37-E917-0950471F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18FE0-FFE0-63E1-B35F-18932A74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3AE9E6-8BB3-590F-969E-BFE4E5B4A7B6}"/>
              </a:ext>
            </a:extLst>
          </p:cNvPr>
          <p:cNvCxnSpPr/>
          <p:nvPr userDrawn="1"/>
        </p:nvCxnSpPr>
        <p:spPr>
          <a:xfrm>
            <a:off x="838204" y="6272667"/>
            <a:ext cx="1051560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8A5819D-C956-7CCC-1613-C2CBB2D3BFF4}"/>
              </a:ext>
            </a:extLst>
          </p:cNvPr>
          <p:cNvGrpSpPr/>
          <p:nvPr userDrawn="1"/>
        </p:nvGrpSpPr>
        <p:grpSpPr>
          <a:xfrm flipV="1">
            <a:off x="859974" y="6308730"/>
            <a:ext cx="3135084" cy="71645"/>
            <a:chOff x="10472059" y="1023707"/>
            <a:chExt cx="881740" cy="4989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01B73AA-76A4-619B-3D0D-CB2C0D00421F}"/>
                </a:ext>
              </a:extLst>
            </p:cNvPr>
            <p:cNvGrpSpPr/>
            <p:nvPr/>
          </p:nvGrpSpPr>
          <p:grpSpPr>
            <a:xfrm>
              <a:off x="10918372" y="1024176"/>
              <a:ext cx="435427" cy="49430"/>
              <a:chOff x="10918372" y="1024176"/>
              <a:chExt cx="435427" cy="49430"/>
            </a:xfrm>
          </p:grpSpPr>
          <p:sp>
            <p:nvSpPr>
              <p:cNvPr id="11" name="Rectangle: Single Corner Snipped 10">
                <a:extLst>
                  <a:ext uri="{FF2B5EF4-FFF2-40B4-BE49-F238E27FC236}">
                    <a16:creationId xmlns:a16="http://schemas.microsoft.com/office/drawing/2014/main" id="{29A5F611-582F-40AA-A216-79AA678E8DDC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12" name="Rectangle: Single Corner Snipped 11">
                <a:extLst>
                  <a:ext uri="{FF2B5EF4-FFF2-40B4-BE49-F238E27FC236}">
                    <a16:creationId xmlns:a16="http://schemas.microsoft.com/office/drawing/2014/main" id="{11B4FAE1-B144-A770-C946-1DB71B6959FE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30DDCB4-0B15-DD69-7D44-14A2262AD738}"/>
                </a:ext>
              </a:extLst>
            </p:cNvPr>
            <p:cNvGrpSpPr/>
            <p:nvPr/>
          </p:nvGrpSpPr>
          <p:grpSpPr>
            <a:xfrm>
              <a:off x="10472059" y="1023707"/>
              <a:ext cx="435427" cy="49430"/>
              <a:chOff x="10918372" y="1024176"/>
              <a:chExt cx="435427" cy="49430"/>
            </a:xfrm>
          </p:grpSpPr>
          <p:sp>
            <p:nvSpPr>
              <p:cNvPr id="9" name="Rectangle: Single Corner Snipped 8">
                <a:extLst>
                  <a:ext uri="{FF2B5EF4-FFF2-40B4-BE49-F238E27FC236}">
                    <a16:creationId xmlns:a16="http://schemas.microsoft.com/office/drawing/2014/main" id="{762D1B86-C0E3-DCAF-A1D2-AAC203E82B43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10" name="Rectangle: Single Corner Snipped 9">
                <a:extLst>
                  <a:ext uri="{FF2B5EF4-FFF2-40B4-BE49-F238E27FC236}">
                    <a16:creationId xmlns:a16="http://schemas.microsoft.com/office/drawing/2014/main" id="{A6F7DDE0-ACF4-041B-DD27-0B47FB88C342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</p:grpSp>
      <p:pic>
        <p:nvPicPr>
          <p:cNvPr id="13" name="Picture 12" descr="A red and blue text on a white background&#10;&#10;AI-generated content may be incorrect.">
            <a:extLst>
              <a:ext uri="{FF2B5EF4-FFF2-40B4-BE49-F238E27FC236}">
                <a16:creationId xmlns:a16="http://schemas.microsoft.com/office/drawing/2014/main" id="{3763422A-D1C4-A3F4-FF1A-4D41899381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528" y="10860"/>
            <a:ext cx="2304288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80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9AAA7-EE59-17A8-A878-37D9991F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EC3-1F55-401C-9D47-FA8AE70F9754}" type="datetime1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109AC-7AF8-AD37-E917-0950471F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18FE0-FFE0-63E1-B35F-18932A74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red and blue text on a white background&#10;&#10;AI-generated content may be incorrect.">
            <a:extLst>
              <a:ext uri="{FF2B5EF4-FFF2-40B4-BE49-F238E27FC236}">
                <a16:creationId xmlns:a16="http://schemas.microsoft.com/office/drawing/2014/main" id="{F1736AF1-3B7A-9744-918A-A637BF357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528" y="10860"/>
            <a:ext cx="2304288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9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A895-1E78-27B2-E388-AE440339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F1B9-8FDA-07E4-2B8D-C5EB9A89C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3B36D-F25E-5796-4F5D-822001BE1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311A0-0E68-B369-D2D2-11D84A2A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F43A-DAC1-4FF9-812E-B4E6CA11715F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46E4C-2A24-A937-A2FE-8E5CE43B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5EA4B-571A-D24E-36C6-A1AD99D0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5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C179-20F5-150A-7338-F16B1A7E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AFF73-2096-DF54-CB41-726A5A48F9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5307B-C722-07B7-39EB-E1850225F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C4ABA-EBEC-EAA8-0A15-67463341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0538-0A31-4084-BBC4-3874EB35255F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2C35-1B5F-2E70-4861-4DF152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16126-EED2-44F8-4182-18BE86CA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93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58F6-AD6F-FB5A-AED9-E081D3C7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06B84-4B58-5AEF-4E62-A49CEA5F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EECB-FB86-4ECF-C56E-AFD5EA8B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DE620-75BA-42E3-B55F-A02EA3BAA900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918B6-26BB-C0F4-B5D9-64E24B86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CDD1-5B88-7250-C93A-D2A07938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66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5793B-34E0-E0DB-C8AE-655A5DF0B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A8219-57FE-6B9D-B5DF-991F56034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BE125-D33F-5D2A-7F16-A261A909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13C4-D20C-49F0-976F-F2A6ABBEC592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C3A23-882F-4F63-65A1-4C520715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3E8DC-0008-3CE6-3593-C97F845B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01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F7346-18E5-9E8E-E882-41038BA4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6"/>
            <a:ext cx="9296400" cy="698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7BE33-2258-EA19-9D7F-91944CAD8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214207"/>
            <a:ext cx="10515600" cy="496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2131-9910-F5A5-B865-B913CED0E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00A94-AA0F-4032-84AA-4728E7FB6F95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213A-0596-FEE6-4B82-362CB266D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CA75-1535-14BB-9F09-83E964119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67448-8E76-4088-8C0F-9DC880FFD75C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3E5E16-10A2-AAED-8F30-8B2D814E7516}"/>
              </a:ext>
            </a:extLst>
          </p:cNvPr>
          <p:cNvCxnSpPr>
            <a:cxnSpLocks/>
          </p:cNvCxnSpPr>
          <p:nvPr/>
        </p:nvCxnSpPr>
        <p:spPr>
          <a:xfrm>
            <a:off x="827314" y="1113749"/>
            <a:ext cx="10526485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A2CBCA-A37E-A234-53B5-947D80977681}"/>
              </a:ext>
            </a:extLst>
          </p:cNvPr>
          <p:cNvCxnSpPr/>
          <p:nvPr/>
        </p:nvCxnSpPr>
        <p:spPr>
          <a:xfrm>
            <a:off x="838204" y="6272667"/>
            <a:ext cx="1051560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ECDDA8-E81A-2BAC-F325-C39F27FF4528}"/>
              </a:ext>
            </a:extLst>
          </p:cNvPr>
          <p:cNvGrpSpPr/>
          <p:nvPr/>
        </p:nvGrpSpPr>
        <p:grpSpPr>
          <a:xfrm>
            <a:off x="10472062" y="1023709"/>
            <a:ext cx="881740" cy="49899"/>
            <a:chOff x="10472059" y="1023707"/>
            <a:chExt cx="881740" cy="498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F565A3C-E2AE-E175-23D7-2871C255FF66}"/>
                </a:ext>
              </a:extLst>
            </p:cNvPr>
            <p:cNvGrpSpPr/>
            <p:nvPr/>
          </p:nvGrpSpPr>
          <p:grpSpPr>
            <a:xfrm>
              <a:off x="10918372" y="1024176"/>
              <a:ext cx="435427" cy="49430"/>
              <a:chOff x="10918372" y="1024176"/>
              <a:chExt cx="435427" cy="49430"/>
            </a:xfrm>
          </p:grpSpPr>
          <p:sp>
            <p:nvSpPr>
              <p:cNvPr id="12" name="Rectangle: Single Corner Snipped 11">
                <a:extLst>
                  <a:ext uri="{FF2B5EF4-FFF2-40B4-BE49-F238E27FC236}">
                    <a16:creationId xmlns:a16="http://schemas.microsoft.com/office/drawing/2014/main" id="{9F83BBE8-7AF6-FEF7-1C8C-71E9B3DAE424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7" name="Rectangle: Single Corner Snipped 6">
                <a:extLst>
                  <a:ext uri="{FF2B5EF4-FFF2-40B4-BE49-F238E27FC236}">
                    <a16:creationId xmlns:a16="http://schemas.microsoft.com/office/drawing/2014/main" id="{DEBA32B2-4547-3EE1-474B-F2FA0779E3A7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63D3AE-1E5F-C031-C260-271864E0AE76}"/>
                </a:ext>
              </a:extLst>
            </p:cNvPr>
            <p:cNvGrpSpPr/>
            <p:nvPr/>
          </p:nvGrpSpPr>
          <p:grpSpPr>
            <a:xfrm>
              <a:off x="10472059" y="1023707"/>
              <a:ext cx="435427" cy="49430"/>
              <a:chOff x="10918372" y="1024176"/>
              <a:chExt cx="435427" cy="49430"/>
            </a:xfrm>
          </p:grpSpPr>
          <p:sp>
            <p:nvSpPr>
              <p:cNvPr id="15" name="Rectangle: Single Corner Snipped 14">
                <a:extLst>
                  <a:ext uri="{FF2B5EF4-FFF2-40B4-BE49-F238E27FC236}">
                    <a16:creationId xmlns:a16="http://schemas.microsoft.com/office/drawing/2014/main" id="{9CD76FA1-6888-BC28-EECA-938FC3B8E4EB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16" name="Rectangle: Single Corner Snipped 15">
                <a:extLst>
                  <a:ext uri="{FF2B5EF4-FFF2-40B4-BE49-F238E27FC236}">
                    <a16:creationId xmlns:a16="http://schemas.microsoft.com/office/drawing/2014/main" id="{878C3A61-B110-FE03-21FB-1BE887A559D4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846BAF-4509-D234-2BA2-9A1FB99AE3BE}"/>
              </a:ext>
            </a:extLst>
          </p:cNvPr>
          <p:cNvGrpSpPr/>
          <p:nvPr/>
        </p:nvGrpSpPr>
        <p:grpSpPr>
          <a:xfrm flipV="1">
            <a:off x="859974" y="6308730"/>
            <a:ext cx="3135084" cy="71645"/>
            <a:chOff x="10472059" y="1023707"/>
            <a:chExt cx="881740" cy="498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479F2F6-6398-4D1B-FBF0-2B42C46F2B21}"/>
                </a:ext>
              </a:extLst>
            </p:cNvPr>
            <p:cNvGrpSpPr/>
            <p:nvPr/>
          </p:nvGrpSpPr>
          <p:grpSpPr>
            <a:xfrm>
              <a:off x="10918372" y="1024176"/>
              <a:ext cx="435427" cy="49430"/>
              <a:chOff x="10918372" y="1024176"/>
              <a:chExt cx="435427" cy="49430"/>
            </a:xfrm>
          </p:grpSpPr>
          <p:sp>
            <p:nvSpPr>
              <p:cNvPr id="23" name="Rectangle: Single Corner Snipped 22">
                <a:extLst>
                  <a:ext uri="{FF2B5EF4-FFF2-40B4-BE49-F238E27FC236}">
                    <a16:creationId xmlns:a16="http://schemas.microsoft.com/office/drawing/2014/main" id="{DFA47EF9-A9B4-1744-8CEA-7D62BD1BA0DD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24" name="Rectangle: Single Corner Snipped 23">
                <a:extLst>
                  <a:ext uri="{FF2B5EF4-FFF2-40B4-BE49-F238E27FC236}">
                    <a16:creationId xmlns:a16="http://schemas.microsoft.com/office/drawing/2014/main" id="{91C1E7F3-8691-C2A0-F68D-7548E903F447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8C1B72C-EC65-9A9F-4657-CE299F2E706F}"/>
                </a:ext>
              </a:extLst>
            </p:cNvPr>
            <p:cNvGrpSpPr/>
            <p:nvPr/>
          </p:nvGrpSpPr>
          <p:grpSpPr>
            <a:xfrm>
              <a:off x="10472059" y="1023707"/>
              <a:ext cx="435427" cy="49430"/>
              <a:chOff x="10918372" y="1024176"/>
              <a:chExt cx="435427" cy="49430"/>
            </a:xfrm>
          </p:grpSpPr>
          <p:sp>
            <p:nvSpPr>
              <p:cNvPr id="21" name="Rectangle: Single Corner Snipped 20">
                <a:extLst>
                  <a:ext uri="{FF2B5EF4-FFF2-40B4-BE49-F238E27FC236}">
                    <a16:creationId xmlns:a16="http://schemas.microsoft.com/office/drawing/2014/main" id="{A89642AA-842A-1429-285F-2B6D229B2DD5}"/>
                  </a:ext>
                </a:extLst>
              </p:cNvPr>
              <p:cNvSpPr/>
              <p:nvPr/>
            </p:nvSpPr>
            <p:spPr>
              <a:xfrm>
                <a:off x="11146971" y="1024176"/>
                <a:ext cx="206828" cy="49430"/>
              </a:xfrm>
              <a:prstGeom prst="snip1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  <p:sp>
            <p:nvSpPr>
              <p:cNvPr id="22" name="Rectangle: Single Corner Snipped 21">
                <a:extLst>
                  <a:ext uri="{FF2B5EF4-FFF2-40B4-BE49-F238E27FC236}">
                    <a16:creationId xmlns:a16="http://schemas.microsoft.com/office/drawing/2014/main" id="{8A182473-5DCE-FA8E-AFFD-81648C5D2371}"/>
                  </a:ext>
                </a:extLst>
              </p:cNvPr>
              <p:cNvSpPr/>
              <p:nvPr/>
            </p:nvSpPr>
            <p:spPr>
              <a:xfrm>
                <a:off x="10918372" y="1024177"/>
                <a:ext cx="206828" cy="49429"/>
              </a:xfrm>
              <a:prstGeom prst="snip1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801"/>
              </a:p>
            </p:txBody>
          </p:sp>
        </p:grpSp>
      </p:grpSp>
      <p:pic>
        <p:nvPicPr>
          <p:cNvPr id="28" name="Picture 27" descr="A red and blue text on a white background&#10;&#10;AI-generated content may be incorrect.">
            <a:extLst>
              <a:ext uri="{FF2B5EF4-FFF2-40B4-BE49-F238E27FC236}">
                <a16:creationId xmlns:a16="http://schemas.microsoft.com/office/drawing/2014/main" id="{352C47E1-893F-ADB1-A23E-6CF5CCFC858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528" y="10860"/>
            <a:ext cx="2304288" cy="640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150659-E2D5-F9A1-66D2-2E43FC0560D2}"/>
              </a:ext>
            </a:extLst>
          </p:cNvPr>
          <p:cNvSpPr txBox="1"/>
          <p:nvPr userDrawn="1"/>
        </p:nvSpPr>
        <p:spPr>
          <a:xfrm>
            <a:off x="854932" y="6317861"/>
            <a:ext cx="10493828" cy="369332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Advanced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9891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0B72C-664B-FD5C-EDA6-0784C51EA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151628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Smart Attendance System 2.0:</a:t>
            </a:r>
            <a:br/>
            <a:r>
              <a:t>AI-Powered Face Recognition with Low-Light Enhancement,</a:t>
            </a:r>
            <a:br/>
            <a:r>
              <a:t>Multi-Signal Anti-Spoofing &amp; Vector Search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F8023F4-A04D-D5CF-1368-C24CCF2F1BEF}"/>
              </a:ext>
            </a:extLst>
          </p:cNvPr>
          <p:cNvSpPr txBox="1">
            <a:spLocks/>
          </p:cNvSpPr>
          <p:nvPr/>
        </p:nvSpPr>
        <p:spPr>
          <a:xfrm>
            <a:off x="3744901" y="1516283"/>
            <a:ext cx="4324155" cy="2734871"/>
          </a:xfrm>
          <a:prstGeom prst="rect">
            <a:avLst/>
          </a:prstGeom>
        </p:spPr>
        <p:txBody>
          <a:bodyPr vert="horz" lIns="91440" tIns="45721" rIns="91440" bIns="4572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10000"/>
              </a:lnSpc>
              <a:spcBef>
                <a:spcPts val="0"/>
              </a:spcBef>
              <a:defRPr sz="1200" b="1"/>
            </a:pPr>
            <a:r>
              <a:t>Presented by</a:t>
            </a:r>
          </a:p>
          <a:p>
            <a:pPr>
              <a:defRPr sz="1100" b="0"/>
            </a:pPr>
            <a:r>
              <a:t>K. Hemanth (Regd. No: 221FA04xxx)</a:t>
            </a:r>
          </a:p>
          <a:p>
            <a:pPr>
              <a:defRPr sz="1100" b="0"/>
            </a:pPr>
            <a:r>
              <a:t>Project Associate (Regd. No: 221FA04yyy)</a:t>
            </a:r>
          </a:p>
          <a:p>
            <a:pPr>
              <a:defRPr sz="1100" b="0"/>
            </a:pPr>
            <a:r>
              <a:t>Project Associate (Regd. No: 221FA04zzz)</a:t>
            </a:r>
          </a:p>
          <a:p>
            <a:pPr>
              <a:defRPr sz="600" b="0"/>
            </a:pPr>
            <a:endParaRPr/>
          </a:p>
          <a:p>
            <a:pPr>
              <a:defRPr sz="1200" b="1"/>
            </a:pPr>
            <a:r>
              <a:t>Under the Supervision of</a:t>
            </a:r>
          </a:p>
          <a:p>
            <a:pPr>
              <a:defRPr sz="1200" b="1"/>
            </a:pPr>
            <a:r>
              <a:t>Dr. Guide Name, Ph.D.</a:t>
            </a:r>
          </a:p>
          <a:p>
            <a:pPr>
              <a:defRPr sz="1100" b="0"/>
            </a:pPr>
            <a:r>
              <a:t>Professor, Department of ACSE</a:t>
            </a:r>
          </a:p>
        </p:txBody>
      </p:sp>
      <p:pic>
        <p:nvPicPr>
          <p:cNvPr id="6" name="Picture 5" descr="Logo VFSTR&#10;">
            <a:extLst>
              <a:ext uri="{FF2B5EF4-FFF2-40B4-BE49-F238E27FC236}">
                <a16:creationId xmlns:a16="http://schemas.microsoft.com/office/drawing/2014/main" id="{F52B69C2-08CE-5BC1-E950-F23C94F43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6" y="4313029"/>
            <a:ext cx="3060107" cy="850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115080-8C3C-C43E-1CDF-E3955B2D02EC}"/>
              </a:ext>
            </a:extLst>
          </p:cNvPr>
          <p:cNvSpPr txBox="1"/>
          <p:nvPr/>
        </p:nvSpPr>
        <p:spPr>
          <a:xfrm>
            <a:off x="1866104" y="5341717"/>
            <a:ext cx="845979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Advanced Computer Science and Engineering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and Informatics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Vignan’s Foundation for Science, Technology &amp; Research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(Deemed to be University)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4977C-3EF7-5456-51AA-379A10BF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2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F0A9-6627-0462-CABC-8C6B78B8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46D6-BEEA-510A-919E-B72F45937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  <a:defRPr sz="1400"/>
            </a:pPr>
            <a:r>
              <a:rPr dirty="0"/>
              <a:t>1.  Introduction</a:t>
            </a:r>
          </a:p>
          <a:p>
            <a:pPr marL="0" indent="0">
              <a:spcAft>
                <a:spcPts val="400"/>
              </a:spcAft>
              <a:buNone/>
              <a:defRPr sz="1400"/>
            </a:pPr>
            <a:r>
              <a:rPr dirty="0"/>
              <a:t>2.  Literature Review (Base Paper Analysis)</a:t>
            </a:r>
          </a:p>
          <a:p>
            <a:pPr marL="0" indent="0">
              <a:spcAft>
                <a:spcPts val="400"/>
              </a:spcAft>
              <a:buNone/>
              <a:defRPr sz="1400"/>
            </a:pPr>
            <a:r>
              <a:rPr dirty="0"/>
              <a:t>3.  Problem Statement</a:t>
            </a:r>
          </a:p>
          <a:p>
            <a:pPr marL="0" indent="0">
              <a:spcAft>
                <a:spcPts val="400"/>
              </a:spcAft>
              <a:buNone/>
              <a:defRPr sz="1400"/>
            </a:pPr>
            <a:r>
              <a:rPr dirty="0"/>
              <a:t>4.  Motivation</a:t>
            </a:r>
          </a:p>
          <a:p>
            <a:pPr marL="0" indent="0">
              <a:spcAft>
                <a:spcPts val="400"/>
              </a:spcAft>
              <a:buNone/>
              <a:defRPr sz="1400"/>
            </a:pPr>
            <a:r>
              <a:rPr dirty="0"/>
              <a:t>5.  Methodology</a:t>
            </a:r>
          </a:p>
          <a:p>
            <a:pPr marL="0" indent="0">
              <a:spcAft>
                <a:spcPts val="400"/>
              </a:spcAft>
              <a:buNone/>
              <a:defRPr sz="1400"/>
            </a:pPr>
            <a:r>
              <a:rPr lang="en-US" dirty="0"/>
              <a:t>6</a:t>
            </a:r>
            <a:r>
              <a:rPr dirty="0"/>
              <a:t>.  Architecture / System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94937-437E-2967-DCFE-352440A6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4081-4DD1-9A22-F327-5B7C9999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Introduction</a:t>
            </a:r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ED67D-A633-2E42-D046-92F7D0E1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3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6A2DB-B525-F8BC-8958-D9C4CAC16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214207"/>
            <a:ext cx="10515600" cy="49627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Background</a:t>
            </a:r>
          </a:p>
          <a:p>
            <a:pPr marL="0" indent="0">
              <a:buNone/>
            </a:pPr>
            <a:r>
              <a:rPr lang="en-IN" dirty="0"/>
              <a:t>Attendance is an important activity in educational institutions. Traditional methods such as calling names and signing attendance sheets require time and may allow students to mark attendance for others.</a:t>
            </a:r>
          </a:p>
          <a:p>
            <a:pPr marL="0" indent="0">
              <a:buNone/>
            </a:pPr>
            <a:r>
              <a:rPr lang="en-IN" b="1" dirty="0"/>
              <a:t>Real-World Problem</a:t>
            </a:r>
          </a:p>
          <a:p>
            <a:r>
              <a:rPr lang="en-IN" dirty="0"/>
              <a:t>Manual attendance can:</a:t>
            </a:r>
          </a:p>
          <a:p>
            <a:pPr lvl="0"/>
            <a:r>
              <a:rPr lang="en-IN" dirty="0"/>
              <a:t>Consume valuable classroom time. </a:t>
            </a:r>
          </a:p>
          <a:p>
            <a:pPr lvl="0"/>
            <a:r>
              <a:rPr lang="en-IN" dirty="0"/>
              <a:t>Allow proxy attendance. </a:t>
            </a:r>
          </a:p>
          <a:p>
            <a:pPr lvl="0"/>
            <a:r>
              <a:rPr lang="en-IN" dirty="0"/>
              <a:t>Require manual record maintenance. </a:t>
            </a:r>
          </a:p>
          <a:p>
            <a:pPr lvl="0"/>
            <a:r>
              <a:rPr lang="en-IN" dirty="0"/>
              <a:t>Become difficult to manage for large classes. </a:t>
            </a:r>
          </a:p>
          <a:p>
            <a:pPr marL="0" indent="0">
              <a:buNone/>
            </a:pPr>
            <a:r>
              <a:rPr lang="en-IN" b="1" dirty="0"/>
              <a:t>Proposed Solution</a:t>
            </a:r>
          </a:p>
          <a:p>
            <a:r>
              <a:rPr lang="en-IN" dirty="0"/>
              <a:t>Our project proposes an </a:t>
            </a:r>
            <a:r>
              <a:rPr lang="en-IN" b="1" dirty="0"/>
              <a:t>AI-based Smart Attendance System</a:t>
            </a:r>
            <a:r>
              <a:rPr lang="en-IN" dirty="0"/>
              <a:t> that uses a camera to detect and recognize students' faces and automatically record their attendance with the date and time.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pPr lvl="0"/>
            <a:r>
              <a:rPr lang="en-IN" dirty="0"/>
              <a:t>Automate the attendance process using face recognition. </a:t>
            </a:r>
          </a:p>
          <a:p>
            <a:pPr lvl="0"/>
            <a:r>
              <a:rPr lang="en-IN" dirty="0"/>
              <a:t>Reduce proxy attendance using liveness detection. </a:t>
            </a:r>
          </a:p>
          <a:p>
            <a:pPr lvl="0"/>
            <a:r>
              <a:rPr lang="en-IN" dirty="0"/>
              <a:t>Improve recognition under different lighting conditions. </a:t>
            </a:r>
          </a:p>
          <a:p>
            <a:pPr lvl="0"/>
            <a:r>
              <a:rPr lang="en-IN" dirty="0"/>
              <a:t>Store and manage attendance records efficiently using a database.</a:t>
            </a:r>
          </a:p>
        </p:txBody>
      </p:sp>
    </p:spTree>
    <p:extLst>
      <p:ext uri="{BB962C8B-B14F-4D97-AF65-F5344CB8AC3E}">
        <p14:creationId xmlns:p14="http://schemas.microsoft.com/office/powerpoint/2010/main" val="7359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A300-0201-B4A9-150E-3878D099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0EB4-A143-0150-E03A-FC84FDEC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4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A8614-4834-5D77-8EEB-0A9BA2EB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950"/>
            </a:pPr>
            <a:r>
              <a:t>Primary Base Paper: Patidar, Nagar, &amp; Umamaheswari (Pratibodh / NCICT, Apr. 2026):</a:t>
            </a:r>
          </a:p>
          <a:p>
            <a:pPr>
              <a:spcAft>
                <a:spcPts val="400"/>
              </a:spcAft>
              <a:defRPr sz="950"/>
            </a:pPr>
            <a:r>
              <a:t>    • Paper Title: "Smart Attendance System Using AI-Based Face Recognition"</a:t>
            </a:r>
          </a:p>
          <a:p>
            <a:pPr>
              <a:spcAft>
                <a:spcPts val="400"/>
              </a:spcAft>
              <a:defRPr sz="950"/>
            </a:pPr>
            <a:r>
              <a:t>    • Proposed Architecture: MTCNN for face detection + FaceNet for 128-d embeddings + Frame differencing motion analysis + Streamlit UI + Flat CSV logging.</a:t>
            </a:r>
          </a:p>
          <a:p>
            <a:pPr>
              <a:spcAft>
                <a:spcPts val="400"/>
              </a:spcAft>
              <a:defRPr sz="950"/>
            </a:pPr>
            <a:r>
              <a:t>    • Reported Performance: 97.3% (bright light, 0.4s), 94.8% (medium light, 0.5s). Tested on 30 subjects with HD webcam.</a:t>
            </a:r>
          </a:p>
          <a:p>
            <a:pPr>
              <a:spcAft>
                <a:spcPts val="400"/>
              </a:spcAft>
              <a:defRPr sz="950"/>
            </a:pPr>
            <a:r>
              <a:t>    • Author-Acknowledged Limitations &amp; Critical Bottlenecks:</a:t>
            </a:r>
          </a:p>
          <a:p>
            <a:pPr>
              <a:spcAft>
                <a:spcPts val="400"/>
              </a:spcAft>
              <a:defRPr sz="950"/>
            </a:pPr>
            <a:r>
              <a:t>        - Dim Lighting Failure: Accuracy falls sharply to 88.5% with 4.3% false positive rate and 0.7s latency.</a:t>
            </a:r>
          </a:p>
          <a:p>
            <a:pPr>
              <a:spcAft>
                <a:spcPts val="400"/>
              </a:spcAft>
              <a:defRPr sz="950"/>
            </a:pPr>
            <a:r>
              <a:t>        - Liveness Vulnerability: Motion differencing only catches static photos; completely bypassed by phone video replays.</a:t>
            </a:r>
          </a:p>
          <a:p>
            <a:pPr>
              <a:spcAft>
                <a:spcPts val="400"/>
              </a:spcAft>
              <a:defRPr sz="950"/>
            </a:pPr>
            <a:r>
              <a:t>        - Storage Bottleneck: Flat CSV storage 'limits scalability for large institutions; SQL database recommended'.</a:t>
            </a:r>
          </a:p>
          <a:p>
            <a:pPr>
              <a:spcAft>
                <a:spcPts val="400"/>
              </a:spcAft>
              <a:defRPr sz="950"/>
            </a:pPr>
            <a:r>
              <a:t>        - Enrollment Bottleneck: Manual enrollment manager creates administrative bottlenecks.</a:t>
            </a:r>
          </a:p>
          <a:p>
            <a:pPr>
              <a:spcAft>
                <a:spcPts val="400"/>
              </a:spcAft>
              <a:defRPr sz="950"/>
            </a:pPr>
            <a:endParaRPr/>
          </a:p>
          <a:p>
            <a:pPr>
              <a:spcAft>
                <a:spcPts val="400"/>
              </a:spcAft>
              <a:defRPr sz="950"/>
            </a:pPr>
            <a:r>
              <a:t>Complementary State-of-the-Art Literature:</a:t>
            </a:r>
          </a:p>
          <a:p>
            <a:pPr>
              <a:spcAft>
                <a:spcPts val="400"/>
              </a:spcAft>
              <a:defRPr sz="950"/>
            </a:pPr>
            <a:r>
              <a:t>    • Turk &amp; Pentland [1991] (Eigenfaces/PCA): Classic biometric baseline; sensitive to lighting and pose variance.</a:t>
            </a:r>
          </a:p>
          <a:p>
            <a:pPr>
              <a:spcAft>
                <a:spcPts val="400"/>
              </a:spcAft>
              <a:defRPr sz="950"/>
            </a:pPr>
            <a:r>
              <a:t>    • Zuiderveld [1994] (CLAHE): Adaptive contrast clipping; naive application distorts well-lit facial features.</a:t>
            </a:r>
          </a:p>
          <a:p>
            <a:pPr>
              <a:spcAft>
                <a:spcPts val="400"/>
              </a:spcAft>
              <a:defRPr sz="950"/>
            </a:pPr>
            <a:r>
              <a:t>    • Pereira et al. [2012] &amp; Li et al. [2004]: LBP micro-texture entropy &amp; Fourier frequency spectra for spoof detection.</a:t>
            </a:r>
          </a:p>
          <a:p>
            <a:pPr>
              <a:spcAft>
                <a:spcPts val="400"/>
              </a:spcAft>
              <a:defRPr sz="950"/>
            </a:pPr>
            <a:r>
              <a:t>    • Kane [2023] (pgvector): Introduced native relational vector indexing, enabling O(log N) nearest-neighbor search.</a:t>
            </a:r>
          </a:p>
        </p:txBody>
      </p:sp>
    </p:spTree>
    <p:extLst>
      <p:ext uri="{BB962C8B-B14F-4D97-AF65-F5344CB8AC3E}">
        <p14:creationId xmlns:p14="http://schemas.microsoft.com/office/powerpoint/2010/main" val="348167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4E8F-291F-FE2D-EE3B-43E5D1A2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2FCE-D666-E95A-412C-69B12357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8B97-17F0-D0E9-B80B-057426FF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400"/>
              </a:spcAft>
              <a:defRPr sz="1100"/>
            </a:pPr>
            <a:r>
              <a:rPr lang="en-IN" dirty="0"/>
              <a:t>Existing face-recognition-based attendance systems can automate attendance, but they may have limitations such as reduced recognition accuracy in low-light conditions, vulnerability to video-based spoofing, dependence on camera quality, manual </a:t>
            </a:r>
            <a:r>
              <a:rPr lang="en-IN" dirty="0" err="1"/>
              <a:t>enrollment</a:t>
            </a:r>
            <a:r>
              <a:rPr lang="en-IN" dirty="0"/>
              <a:t> requirements, and limited scalability when attendance records are stored in CSV files. Therefore, there is a need for an improved smart attendance system that provides reliable face recognition, stronger liveness detection, improved </a:t>
            </a:r>
            <a:r>
              <a:rPr lang="en-IN" dirty="0" err="1"/>
              <a:t>enrollment</a:t>
            </a:r>
            <a:r>
              <a:rPr lang="en-IN" dirty="0"/>
              <a:t>, and scalable attendance management.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7AD14-91C6-126F-B85E-EE2135EA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45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623C-ED47-43EA-6A58-EA0109A9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9D90-0218-64BC-9E9B-C88E2C62C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214208"/>
            <a:ext cx="10515600" cy="5060133"/>
          </a:xfrm>
        </p:spPr>
        <p:txBody>
          <a:bodyPr/>
          <a:lstStyle/>
          <a:p>
            <a:r>
              <a:rPr lang="en-IN" b="1" dirty="0"/>
              <a:t>Why this project?</a:t>
            </a:r>
          </a:p>
          <a:p>
            <a:pPr lvl="0"/>
            <a:r>
              <a:rPr lang="en-IN" dirty="0"/>
              <a:t>Manual attendance consumes valuable classroom time. </a:t>
            </a:r>
          </a:p>
          <a:p>
            <a:pPr lvl="0"/>
            <a:r>
              <a:rPr lang="en-IN" dirty="0"/>
              <a:t>Proxy attendance is possible with traditional methods. </a:t>
            </a:r>
          </a:p>
          <a:p>
            <a:pPr lvl="0"/>
            <a:r>
              <a:rPr lang="en-IN" dirty="0"/>
              <a:t>Face recognition can automate student identification. </a:t>
            </a:r>
          </a:p>
          <a:p>
            <a:pPr lvl="0"/>
            <a:r>
              <a:rPr lang="en-IN" dirty="0"/>
              <a:t>Liveness detection can reduce fraudulent attendance. </a:t>
            </a:r>
          </a:p>
          <a:p>
            <a:pPr lvl="0"/>
            <a:r>
              <a:rPr lang="en-IN" dirty="0"/>
              <a:t>Classroom lighting can vary significantly. </a:t>
            </a:r>
          </a:p>
          <a:p>
            <a:pPr lvl="0"/>
            <a:r>
              <a:rPr lang="en-IN" dirty="0"/>
              <a:t>Large numbers of attendance records require efficient storage. </a:t>
            </a:r>
          </a:p>
          <a:p>
            <a:pPr lvl="0"/>
            <a:r>
              <a:rPr lang="en-IN" dirty="0"/>
              <a:t>A smart system can reduce teachers' workload and improve attendance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0B76-B379-A425-9286-1BD0AFD2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67B1-D3DF-DA0F-244D-DB2CDE07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C518-09BA-7B10-1B89-AF717049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b="1" dirty="0"/>
              <a:t>Main Phases</a:t>
            </a:r>
          </a:p>
          <a:p>
            <a:r>
              <a:rPr lang="en-IN" b="1" dirty="0"/>
              <a:t>1. Student Registration</a:t>
            </a:r>
            <a:endParaRPr lang="en-IN" dirty="0"/>
          </a:p>
          <a:p>
            <a:pPr lvl="0"/>
            <a:r>
              <a:rPr lang="en-IN" dirty="0"/>
              <a:t>Enter student details. </a:t>
            </a:r>
          </a:p>
          <a:p>
            <a:pPr lvl="0"/>
            <a:r>
              <a:rPr lang="en-IN" dirty="0"/>
              <a:t>Capture multiple face samples. </a:t>
            </a:r>
          </a:p>
          <a:p>
            <a:pPr lvl="0"/>
            <a:r>
              <a:rPr lang="en-IN" dirty="0"/>
              <a:t>Generate and store facial embeddings. </a:t>
            </a:r>
          </a:p>
          <a:p>
            <a:r>
              <a:rPr lang="en-IN" b="1" dirty="0"/>
              <a:t>2. Face Detection</a:t>
            </a:r>
            <a:endParaRPr lang="en-IN" dirty="0"/>
          </a:p>
          <a:p>
            <a:pPr lvl="0"/>
            <a:r>
              <a:rPr lang="en-IN" dirty="0"/>
              <a:t>Detect faces from camera frames. </a:t>
            </a:r>
          </a:p>
          <a:p>
            <a:pPr lvl="0"/>
            <a:r>
              <a:rPr lang="en-IN" dirty="0"/>
              <a:t>Align and preprocess detected faces. </a:t>
            </a:r>
          </a:p>
          <a:p>
            <a:r>
              <a:rPr lang="en-IN" b="1" dirty="0"/>
              <a:t>3. Face Recognition</a:t>
            </a:r>
            <a:endParaRPr lang="en-IN" dirty="0"/>
          </a:p>
          <a:p>
            <a:pPr lvl="0"/>
            <a:r>
              <a:rPr lang="en-IN" dirty="0"/>
              <a:t>Generate face embeddings. </a:t>
            </a:r>
          </a:p>
          <a:p>
            <a:pPr lvl="0"/>
            <a:r>
              <a:rPr lang="en-IN" dirty="0"/>
              <a:t>Compare them with registered embeddings. </a:t>
            </a:r>
          </a:p>
          <a:p>
            <a:pPr lvl="0"/>
            <a:r>
              <a:rPr lang="en-IN" dirty="0"/>
              <a:t>Identify the student. </a:t>
            </a:r>
          </a:p>
          <a:p>
            <a:r>
              <a:rPr lang="en-IN" b="1" dirty="0"/>
              <a:t>4. Liveness Detection</a:t>
            </a:r>
            <a:endParaRPr lang="en-IN" dirty="0"/>
          </a:p>
          <a:p>
            <a:pPr lvl="0"/>
            <a:r>
              <a:rPr lang="en-IN" dirty="0"/>
              <a:t>Check whether the input is a real person. </a:t>
            </a:r>
          </a:p>
          <a:p>
            <a:pPr lvl="0"/>
            <a:r>
              <a:rPr lang="en-IN" dirty="0"/>
              <a:t>Reject spoofing attempts such as photographs/videos. </a:t>
            </a:r>
          </a:p>
          <a:p>
            <a:r>
              <a:rPr lang="en-IN" b="1" dirty="0"/>
              <a:t>5. Attendance</a:t>
            </a:r>
            <a:endParaRPr lang="en-IN" dirty="0"/>
          </a:p>
          <a:p>
            <a:pPr lvl="0"/>
            <a:r>
              <a:rPr lang="en-IN" dirty="0"/>
              <a:t>Record name, date and time. </a:t>
            </a:r>
          </a:p>
          <a:p>
            <a:pPr lvl="0"/>
            <a:r>
              <a:rPr lang="en-IN" dirty="0"/>
              <a:t>Prevent duplicate attendance. </a:t>
            </a:r>
          </a:p>
          <a:p>
            <a:r>
              <a:rPr lang="en-IN" b="1" dirty="0"/>
              <a:t>6. Database &amp; Reports</a:t>
            </a:r>
            <a:endParaRPr lang="en-IN" dirty="0"/>
          </a:p>
          <a:p>
            <a:pPr lvl="0"/>
            <a:r>
              <a:rPr lang="en-IN" dirty="0"/>
              <a:t>Store attendance records. </a:t>
            </a:r>
          </a:p>
          <a:p>
            <a:pPr lvl="0"/>
            <a:r>
              <a:rPr lang="en-IN" dirty="0"/>
              <a:t>View and generate attendance reports. </a:t>
            </a:r>
          </a:p>
          <a:p>
            <a:r>
              <a:rPr lang="en-IN" b="1" dirty="0"/>
              <a:t>Technologies</a:t>
            </a:r>
          </a:p>
          <a:p>
            <a:pPr lvl="0"/>
            <a:r>
              <a:rPr lang="en-IN" b="1" dirty="0"/>
              <a:t>Python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OpenCV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MTCNN / Face Detection</a:t>
            </a:r>
            <a:r>
              <a:rPr lang="en-IN" dirty="0"/>
              <a:t> </a:t>
            </a:r>
          </a:p>
          <a:p>
            <a:pPr lvl="0"/>
            <a:r>
              <a:rPr lang="en-IN" b="1" dirty="0" err="1"/>
              <a:t>FaceNet</a:t>
            </a:r>
            <a:r>
              <a:rPr lang="en-IN" b="1" dirty="0"/>
              <a:t> / Deep Face Embeddings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Deep Learning-based Liveness Detection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MySQL / Database</a:t>
            </a:r>
            <a:r>
              <a:rPr lang="en-IN" dirty="0"/>
              <a:t> </a:t>
            </a:r>
          </a:p>
          <a:p>
            <a:pPr lvl="0"/>
            <a:r>
              <a:rPr lang="en-IN" b="1" dirty="0" err="1"/>
              <a:t>Streamlit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0C20C-A69D-2FDB-054D-79DD6A92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70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819F-B9C6-C2C8-EC4C-FFEAFBDA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/>
            </a:pPr>
            <a:r>
              <a:t>Architecture / System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219A1-2E8D-4A3A-60BB-1308017FD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0" y="0"/>
            <a:ext cx="0" cy="0"/>
          </a:xfrm>
        </p:spPr>
        <p:txBody>
          <a:bodyPr>
            <a:normAutofit fontScale="25000" lnSpcReduction="20000"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DFB01-B45A-49FE-1308-EC957A11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2CB87-D06A-C508-122D-83C9E1EA10FD}"/>
              </a:ext>
            </a:extLst>
          </p:cNvPr>
          <p:cNvSpPr txBox="1"/>
          <p:nvPr/>
        </p:nvSpPr>
        <p:spPr>
          <a:xfrm>
            <a:off x="3289987" y="166454"/>
            <a:ext cx="65799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Camera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Image Preprocessing</a:t>
            </a:r>
            <a:br>
              <a:rPr lang="en-IN" dirty="0"/>
            </a:br>
            <a:r>
              <a:rPr lang="en-IN" i="1" dirty="0"/>
              <a:t>Low-light enhancement / face alignment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Face Detection</a:t>
            </a:r>
            <a:br>
              <a:rPr lang="en-IN" dirty="0"/>
            </a:br>
            <a:r>
              <a:rPr lang="en-IN" i="1" dirty="0"/>
              <a:t>MTCNN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Liveness Detection</a:t>
            </a:r>
            <a:br>
              <a:rPr lang="en-IN" dirty="0"/>
            </a:br>
            <a:r>
              <a:rPr lang="en-IN" i="1" dirty="0"/>
              <a:t>Deep-learning-based anti-spoofing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Face Recognition</a:t>
            </a:r>
            <a:br>
              <a:rPr lang="en-IN" dirty="0"/>
            </a:br>
            <a:r>
              <a:rPr lang="en-IN" i="1" dirty="0" err="1"/>
              <a:t>FaceNet</a:t>
            </a:r>
            <a:r>
              <a:rPr lang="en-IN" i="1" dirty="0"/>
              <a:t> / Face Embeddings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Student Identification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Attendance Management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Database</a:t>
            </a:r>
            <a:endParaRPr lang="en-IN" dirty="0"/>
          </a:p>
          <a:p>
            <a:pPr>
              <a:buNone/>
            </a:pPr>
            <a:r>
              <a:rPr lang="en-IN" dirty="0"/>
              <a:t>↓</a:t>
            </a:r>
          </a:p>
          <a:p>
            <a:pPr>
              <a:buNone/>
            </a:pPr>
            <a:r>
              <a:rPr lang="en-IN" b="1" dirty="0"/>
              <a:t>Dashboard /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87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C5D562C-02FF-23C4-C1A4-02C1E86BCF54}"/>
              </a:ext>
            </a:extLst>
          </p:cNvPr>
          <p:cNvGrpSpPr>
            <a:grpSpLocks/>
          </p:cNvGrpSpPr>
          <p:nvPr/>
        </p:nvGrpSpPr>
        <p:grpSpPr>
          <a:xfrm>
            <a:off x="2631201" y="359621"/>
            <a:ext cx="5926171" cy="6698030"/>
            <a:chOff x="2631200" y="359621"/>
            <a:chExt cx="5926171" cy="66980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BBE9C5C-6569-4C5C-98FD-4514941A1A59}"/>
                </a:ext>
              </a:extLst>
            </p:cNvPr>
            <p:cNvSpPr>
              <a:spLocks/>
            </p:cNvSpPr>
            <p:nvPr/>
          </p:nvSpPr>
          <p:spPr>
            <a:xfrm rot="2700000">
              <a:off x="4787270" y="1498228"/>
              <a:ext cx="2013390" cy="2013390"/>
            </a:xfrm>
            <a:prstGeom prst="roundRect">
              <a:avLst>
                <a:gd name="adj" fmla="val 20464"/>
              </a:avLst>
            </a:prstGeom>
            <a:noFill/>
            <a:ln w="34925">
              <a:solidFill>
                <a:srgbClr val="3AB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06BA146-A655-415F-8DCE-ED10500F28D3}"/>
                </a:ext>
              </a:extLst>
            </p:cNvPr>
            <p:cNvSpPr>
              <a:spLocks/>
            </p:cNvSpPr>
            <p:nvPr/>
          </p:nvSpPr>
          <p:spPr>
            <a:xfrm rot="2700000">
              <a:off x="6838259" y="3069049"/>
              <a:ext cx="1719112" cy="1719112"/>
            </a:xfrm>
            <a:prstGeom prst="roundRect">
              <a:avLst>
                <a:gd name="adj" fmla="val 20464"/>
              </a:avLst>
            </a:prstGeom>
            <a:noFill/>
            <a:ln w="34925">
              <a:solidFill>
                <a:srgbClr val="3AB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F5C243C-8AFA-48C1-BC37-34FA15F457A4}"/>
                </a:ext>
              </a:extLst>
            </p:cNvPr>
            <p:cNvSpPr>
              <a:spLocks/>
            </p:cNvSpPr>
            <p:nvPr/>
          </p:nvSpPr>
          <p:spPr>
            <a:xfrm rot="2700000" flipV="1">
              <a:off x="4540878" y="4118095"/>
              <a:ext cx="952612" cy="952612"/>
            </a:xfrm>
            <a:prstGeom prst="roundRect">
              <a:avLst>
                <a:gd name="adj" fmla="val 20464"/>
              </a:avLst>
            </a:prstGeom>
            <a:noFill/>
            <a:ln w="34925">
              <a:solidFill>
                <a:srgbClr val="3AB6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7236F8A-92A8-462D-9C5C-EBB0391EE255}"/>
                </a:ext>
              </a:extLst>
            </p:cNvPr>
            <p:cNvSpPr>
              <a:spLocks/>
            </p:cNvSpPr>
            <p:nvPr/>
          </p:nvSpPr>
          <p:spPr>
            <a:xfrm rot="2700000">
              <a:off x="4873773" y="2476033"/>
              <a:ext cx="2632086" cy="2632086"/>
            </a:xfrm>
            <a:prstGeom prst="roundRect">
              <a:avLst>
                <a:gd name="adj" fmla="val 19126"/>
              </a:avLst>
            </a:prstGeom>
            <a:solidFill>
              <a:srgbClr val="3AB6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A72742A2-6260-4172-8D34-B3FEEEF9BC92}"/>
                </a:ext>
              </a:extLst>
            </p:cNvPr>
            <p:cNvSpPr txBox="1">
              <a:spLocks/>
            </p:cNvSpPr>
            <p:nvPr/>
          </p:nvSpPr>
          <p:spPr>
            <a:xfrm>
              <a:off x="5052519" y="3279222"/>
              <a:ext cx="2274594" cy="1239069"/>
            </a:xfrm>
            <a:prstGeom prst="rect">
              <a:avLst/>
            </a:prstGeom>
          </p:spPr>
          <p:txBody>
            <a:bodyPr vert="horz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1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/>
              <a:r>
                <a:rPr lang="en-IN" sz="4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THANK YOU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A43068-9F93-4923-849F-C40C2616E5FD}"/>
                </a:ext>
              </a:extLst>
            </p:cNvPr>
            <p:cNvSpPr>
              <a:spLocks/>
            </p:cNvSpPr>
            <p:nvPr/>
          </p:nvSpPr>
          <p:spPr>
            <a:xfrm rot="2700000">
              <a:off x="6514437" y="5459985"/>
              <a:ext cx="1597666" cy="1597666"/>
            </a:xfrm>
            <a:custGeom>
              <a:avLst/>
              <a:gdLst>
                <a:gd name="connsiteX0" fmla="*/ 89500 w 1597666"/>
                <a:gd name="connsiteY0" fmla="*/ 89500 h 1597666"/>
                <a:gd name="connsiteX1" fmla="*/ 305570 w 1597666"/>
                <a:gd name="connsiteY1" fmla="*/ 0 h 1597666"/>
                <a:gd name="connsiteX2" fmla="*/ 1292096 w 1597666"/>
                <a:gd name="connsiteY2" fmla="*/ 0 h 1597666"/>
                <a:gd name="connsiteX3" fmla="*/ 1597666 w 1597666"/>
                <a:gd name="connsiteY3" fmla="*/ 305570 h 1597666"/>
                <a:gd name="connsiteX4" fmla="*/ 1597666 w 1597666"/>
                <a:gd name="connsiteY4" fmla="*/ 828667 h 1597666"/>
                <a:gd name="connsiteX5" fmla="*/ 828667 w 1597666"/>
                <a:gd name="connsiteY5" fmla="*/ 1597666 h 1597666"/>
                <a:gd name="connsiteX6" fmla="*/ 305570 w 1597666"/>
                <a:gd name="connsiteY6" fmla="*/ 1597666 h 1597666"/>
                <a:gd name="connsiteX7" fmla="*/ 0 w 1597666"/>
                <a:gd name="connsiteY7" fmla="*/ 1292096 h 1597666"/>
                <a:gd name="connsiteX8" fmla="*/ 0 w 1597666"/>
                <a:gd name="connsiteY8" fmla="*/ 305570 h 1597666"/>
                <a:gd name="connsiteX9" fmla="*/ 89500 w 1597666"/>
                <a:gd name="connsiteY9" fmla="*/ 89500 h 159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7666" h="1597666">
                  <a:moveTo>
                    <a:pt x="89500" y="89500"/>
                  </a:moveTo>
                  <a:cubicBezTo>
                    <a:pt x="144796" y="34202"/>
                    <a:pt x="221189" y="0"/>
                    <a:pt x="305570" y="0"/>
                  </a:cubicBezTo>
                  <a:lnTo>
                    <a:pt x="1292096" y="0"/>
                  </a:lnTo>
                  <a:cubicBezTo>
                    <a:pt x="1460858" y="0"/>
                    <a:pt x="1597666" y="136808"/>
                    <a:pt x="1597666" y="305570"/>
                  </a:cubicBezTo>
                  <a:lnTo>
                    <a:pt x="1597666" y="828667"/>
                  </a:lnTo>
                  <a:lnTo>
                    <a:pt x="828667" y="1597666"/>
                  </a:lnTo>
                  <a:lnTo>
                    <a:pt x="305570" y="1597666"/>
                  </a:lnTo>
                  <a:cubicBezTo>
                    <a:pt x="136808" y="1597666"/>
                    <a:pt x="0" y="1460858"/>
                    <a:pt x="0" y="1292096"/>
                  </a:cubicBezTo>
                  <a:lnTo>
                    <a:pt x="0" y="305570"/>
                  </a:lnTo>
                  <a:cubicBezTo>
                    <a:pt x="0" y="221189"/>
                    <a:pt x="34202" y="144796"/>
                    <a:pt x="89500" y="89500"/>
                  </a:cubicBezTo>
                  <a:close/>
                </a:path>
              </a:pathLst>
            </a:custGeom>
            <a:solidFill>
              <a:srgbClr val="3AB6D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01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3F0C82F-60D6-4E8E-8658-1945239ECDC7}"/>
                </a:ext>
              </a:extLst>
            </p:cNvPr>
            <p:cNvSpPr>
              <a:spLocks/>
            </p:cNvSpPr>
            <p:nvPr/>
          </p:nvSpPr>
          <p:spPr>
            <a:xfrm rot="2700000">
              <a:off x="6510289" y="359621"/>
              <a:ext cx="1597666" cy="1597666"/>
            </a:xfrm>
            <a:prstGeom prst="roundRect">
              <a:avLst>
                <a:gd name="adj" fmla="val 19126"/>
              </a:avLst>
            </a:prstGeom>
            <a:solidFill>
              <a:srgbClr val="3AB6D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632F3FE-74FC-4251-9C8C-0D58948AEC51}"/>
                </a:ext>
              </a:extLst>
            </p:cNvPr>
            <p:cNvSpPr>
              <a:spLocks/>
            </p:cNvSpPr>
            <p:nvPr/>
          </p:nvSpPr>
          <p:spPr>
            <a:xfrm rot="2700000">
              <a:off x="2631200" y="2321568"/>
              <a:ext cx="1597666" cy="1597666"/>
            </a:xfrm>
            <a:prstGeom prst="roundRect">
              <a:avLst>
                <a:gd name="adj" fmla="val 19126"/>
              </a:avLst>
            </a:prstGeom>
            <a:solidFill>
              <a:srgbClr val="3AB6D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1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85D80B-0989-FDB8-ACE2-BA4EE29D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7448-8E76-4088-8C0F-9DC880FFD75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theme1.xml><?xml version="1.0" encoding="utf-8"?>
<a:theme xmlns:a="http://schemas.openxmlformats.org/drawingml/2006/main" name="PhD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rosted Glass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hD_Theme" id="{75B492E9-CE18-4B4D-BE6D-57B3A7A6CA58}" vid="{D2D83074-D226-415D-BDF0-B9C503FED4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B57506-1FAE-475D-8D9C-F9B7351CCDB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PhD_Theme</Template>
  <TotalTime>3683</TotalTime>
  <Words>845</Words>
  <Application>Microsoft Office PowerPoint</Application>
  <PresentationFormat>Widescreen</PresentationFormat>
  <Paragraphs>123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PhD_Theme</vt:lpstr>
      <vt:lpstr>PowerPoint Presentation</vt:lpstr>
      <vt:lpstr>Index</vt:lpstr>
      <vt:lpstr>Introduction</vt:lpstr>
      <vt:lpstr>Literature Review</vt:lpstr>
      <vt:lpstr>Problem Statement</vt:lpstr>
      <vt:lpstr>Motivation</vt:lpstr>
      <vt:lpstr>Methodology</vt:lpstr>
      <vt:lpstr>Architecture / System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 Jukuntla</dc:creator>
  <cp:lastModifiedBy>kondapalli hemanth</cp:lastModifiedBy>
  <cp:revision>282</cp:revision>
  <dcterms:created xsi:type="dcterms:W3CDTF">2024-10-05T17:41:04Z</dcterms:created>
  <dcterms:modified xsi:type="dcterms:W3CDTF">2026-09-10T05:26:25Z</dcterms:modified>
</cp:coreProperties>
</file>